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226" y="1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8106E-3569-471F-B5F3-4C1634A21D6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03CE9B-E8D5-45D2-BB9F-B7B4B1B439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187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03CE9B-E8D5-45D2-BB9F-B7B4B1B439F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458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411480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4A1E5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GAME DESIGN DOCUMENT · 2026</a:t>
            </a:r>
          </a:p>
          <a:p>
            <a:pPr>
              <a:spcAft>
                <a:spcPts val="1200"/>
              </a:spcAft>
              <a:defRPr sz="46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</a:t>
            </a:r>
          </a:p>
          <a:p>
            <a:pPr>
              <a:spcAft>
                <a:spcPts val="2000"/>
              </a:spcAft>
              <a:defRPr sz="12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클라우드 인프라를 직접 설계하고 병목을 해결하는</a:t>
            </a:r>
            <a:b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웹 기반 아키텍처 설계 시뮬레이터 / 디펜스 퍼즐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474720"/>
            <a:ext cx="822960" cy="274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Web / PC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474720"/>
            <a:ext cx="822960" cy="274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Phaser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474720"/>
            <a:ext cx="822960" cy="274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React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474720"/>
            <a:ext cx="822960" cy="274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10 Waves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AFE7BDA-035F-8528-625B-8DF963180E44}"/>
              </a:ext>
            </a:extLst>
          </p:cNvPr>
          <p:cNvGrpSpPr/>
          <p:nvPr/>
        </p:nvGrpSpPr>
        <p:grpSpPr>
          <a:xfrm>
            <a:off x="4846320" y="1097280"/>
            <a:ext cx="3840480" cy="2959331"/>
            <a:chOff x="4846320" y="845044"/>
            <a:chExt cx="3840480" cy="2959331"/>
          </a:xfrm>
        </p:grpSpPr>
        <p:sp>
          <p:nvSpPr>
            <p:cNvPr id="7" name="Rounded Rectangle 6"/>
            <p:cNvSpPr/>
            <p:nvPr/>
          </p:nvSpPr>
          <p:spPr>
            <a:xfrm>
              <a:off x="4846320" y="845044"/>
              <a:ext cx="3840480" cy="2959331"/>
            </a:xfrm>
            <a:prstGeom prst="roundRect">
              <a:avLst/>
            </a:prstGeom>
            <a:solidFill>
              <a:srgbClr val="142238"/>
            </a:solidFill>
            <a:ln>
              <a:solidFill>
                <a:srgbClr val="14223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DD5783D5-F0B7-77ED-F331-C3779097D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6306" y="905229"/>
              <a:ext cx="3740508" cy="2843811"/>
            </a:xfrm>
            <a:prstGeom prst="roundRect">
              <a:avLst>
                <a:gd name="adj" fmla="val 16085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S!!  Serving!!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828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게임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5. 게임 소개 (Game Overview)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풍선 타워 디펜스, 팩토리오, TFT, 미니 메트로가 결합된 서버 인프라 아키텍처 퍼즐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·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02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931920" cy="3108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633433"/>
            <a:ext cx="3657600" cy="1166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게임 기본 사양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🎮</a:t>
            </a: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게임 제목 : Serving!! (서빙!!)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🏷️</a:t>
            </a: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게임 장르 : 서버 인프라 설계 시뮬레이터 / 디펜스 퍼즐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💻</a:t>
            </a: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플랫폼 : PC Web (브라우저 최적화)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👤</a:t>
            </a: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타깃 유저 : 네트워크/소프트웨어 학습자 및 백엔드 지망 개발자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25880"/>
            <a:ext cx="3931920" cy="3108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92040" y="1633433"/>
            <a:ext cx="3657600" cy="1089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핵심 재미 및 레퍼런스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⭐</a:t>
            </a: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핵심 재미 : 실시간 서버/DB 병목을 튜닝하여 극복하는 SRE 지적 쾌감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📌</a:t>
            </a: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참고 게임 : Bloons TD (배치/디펜스) + Factorio (최적 파이프라인) + TFT (상점 합성/증강) + Mini Metro (맨해튼 노선 가설)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S!!  Serving!!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828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코어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6. 코어 루프 (Core Loop)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배치, 운영, 보상, 성장이 반복되며 아키텍처를 유기적으로 리팩토링하는 핵심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·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03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874519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455420"/>
            <a:ext cx="1691639" cy="88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1. 플레이어 행동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상점에서 Credits로 서버 및 모듈 장비를 구매하여 보드에 배치하고 배선함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5447" y="1828800"/>
            <a:ext cx="3754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325880"/>
            <a:ext cx="1874519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06040" y="1455420"/>
            <a:ext cx="1691639" cy="88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2. 보상 획득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서비스 개시 후 유입되는 패킷을 정상 처리하면 Credits 재화와 XP 보상 회수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2847" y="1828800"/>
            <a:ext cx="3754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325880"/>
            <a:ext cx="1874519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1455420"/>
            <a:ext cx="1691639" cy="88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3. 인프라 성장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Credits로 리롤/레벨업하여 격자 보드 확장 및 동일 기기 3개 자동 합성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247" y="1828800"/>
            <a:ext cx="3754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325880"/>
            <a:ext cx="1874519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20840" y="1455420"/>
            <a:ext cx="1691639" cy="88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4. 반복 플레이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웨이브가 지날수록 심화되는 병목 패턴(GET, POST, SLOW, Burst)에 맞춰 리팩터링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63240"/>
            <a:ext cx="2560320" cy="1097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2377440" cy="496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ACTION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Architecture 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063240"/>
            <a:ext cx="2560320" cy="1097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6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83280" y="3154680"/>
            <a:ext cx="2377440" cy="496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REWARD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Credits + XP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063240"/>
            <a:ext cx="2560320" cy="1097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7D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0" y="3154680"/>
            <a:ext cx="2377440" cy="496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GROWTH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Star Upgrade &amp; Augments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S!!  Serving!!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828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세계관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7. 세계관 소개 (Worldview)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신규 서비스 오픈 후 트래픽 폭주 상황 속 서버 인프라 구조를 수호해야 하는 관제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·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04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56032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88B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2377440" cy="88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게임의 배경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IT 서비스 런칭 이후 기하급수적으로 폭증하는 트래픽 관제를 전개하는 백엔드 가상현실 대시보드 화면입니다.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25880"/>
            <a:ext cx="256032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2377440" cy="88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게임의 분위기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다크 블루/네이비 톤 테마의 테크니컬 디자인으로, 실시간 광점 패킷 이동과 붉은 경고가 긴장감을 유도합니다.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56032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29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2377440" cy="88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플레이어의 목표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실패율(Timeout, Queue Full)을 제어하고 Service HP를 사수하여 Wave 10 최종 부하 테스트를 통과하는 것입니다.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71800"/>
            <a:ext cx="256032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6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2377440" cy="88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이 상황이 벌어진 이유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신규 서비스의 갑작스러운 마케팅 대성공으로 사용자 동시 요청이 몰려 서버가 다운되기 일보 직전의 위기 상황입니다.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971800"/>
            <a:ext cx="256032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7D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83280" y="3063240"/>
            <a:ext cx="2377440" cy="88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게임 속 공간의 특징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플레이어 레벨 성장에 따라 7×4 그리드에서 시작하여 최대 13×6 그리드까지 물리적 가설 영역이 점진적으로 확장됩니다.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971800"/>
            <a:ext cx="256032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B4A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0" y="3063240"/>
            <a:ext cx="2377440" cy="88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플레이어의 역할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제한된 연결선 길이(링크 예산)와 격자 면적 안에서 최대 가용성을 확보하는 현실적 클라우드 아키텍트의 위치입니다.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S!!  Serving!!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828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캐릭터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8. 캐릭터 소개 (Characters)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인프라 설계를 담당하는 아키텍트와 병목을 일으키는 4종의 요청 유형(적) 및 최종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·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05 / 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906758"/>
              </p:ext>
            </p:extLst>
          </p:nvPr>
        </p:nvGraphicFramePr>
        <p:xfrm>
          <a:off x="457200" y="132588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2238"/>
                          </a:solidFill>
                          <a:latin typeface="Malgun Gothic"/>
                        </a:defRPr>
                      </a:pPr>
                      <a:r>
                        <a:rPr sz="14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2238"/>
                          </a:solidFill>
                          <a:latin typeface="Malgun Gothic"/>
                        </a:defRPr>
                      </a:pPr>
                      <a:r>
                        <a:rPr sz="14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대상</a:t>
                      </a:r>
                    </a:p>
                  </a:txBody>
                  <a:tcPr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2238"/>
                          </a:solidFill>
                          <a:latin typeface="Malgun Gothic"/>
                        </a:defRPr>
                      </a:pPr>
                      <a:r>
                        <a:rPr sz="14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역할 및 위협 패턴</a:t>
                      </a:r>
                    </a:p>
                  </a:txBody>
                  <a:tcPr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2238"/>
                          </a:solidFill>
                          <a:latin typeface="Malgun Gothic"/>
                        </a:defRPr>
                      </a:pPr>
                      <a:r>
                        <a:rPr sz="14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대응 전략 및 특징</a:t>
                      </a:r>
                    </a:p>
                  </a:txBody>
                  <a:tcPr anchor="ctr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주인공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인프라 아키텍트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상점 경제 관리, 서버 배치 및 데이터/트래픽 링크 가설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예산과 거리 제약을 극복하며 병목 구간 튜닝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적 캐릭터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GET / POST 요청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DB 읽기 부하 집중 패킷 / DB 쓰기 집중 부하를 유도하여 쓰기 병목 유발 패킷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RDS Replica 배치를 통한 읽기 분산 / DB 업그레이드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적 캐릭터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SLOW / Burst 요청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인덱싱 없는 장기 쿼리 (DB 큐 마비) / 짧은 주기로 동시 유입되어 서버 큐 폭발 유발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ElastiCache Redis 도입 / SQS 큐 버퍼 탑재 완충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보스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부하 테스트 (Wave 10)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GET, POST, SLOW, Burst가 복합적으로 일시에 쏟아지는 임계치 테스트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E7380"/>
                          </a:solidFill>
                          <a:latin typeface="Malgun Gothic"/>
                        </a:defRPr>
                      </a:pPr>
                      <a:r>
                        <a:rPr sz="1200">
                          <a:latin typeface="Pretendard Variable Black" panose="02000003000000020004" pitchFamily="2" charset="-127"/>
                          <a:ea typeface="Pretendard Variable Black" panose="02000003000000020004" pitchFamily="2" charset="-127"/>
                          <a:cs typeface="Pretendard Variable Black" panose="02000003000000020004" pitchFamily="2" charset="-127"/>
                        </a:rPr>
                        <a:t>합성(2성/3성) 및 무작위 증강 시너지 최종 검증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S!!  Serving!!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828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컨셉 아트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9. 컨셉 아트 (Concept 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게임 비주얼 방향성 및 스크린샷 이미지 가설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·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06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7460" y="1297335"/>
            <a:ext cx="2651760" cy="3108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50875" y="1525935"/>
            <a:ext cx="2127365" cy="2205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Visual Direction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</a:t>
            </a:r>
            <a:r>
              <a:rPr lang="ko-KR" altLang="ko-KR" sz="100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미니멀한 Azure 콘솔 화면 위에서, 인프라 노드들이 실제 보드게임 말처럼 배치되고 살아 움직이는 느낌</a:t>
            </a:r>
            <a:endParaRPr lang="en-US" altLang="ko-KR" sz="1000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>
              <a:lnSpc>
                <a:spcPct val="115000"/>
              </a:lnSpc>
              <a:spcBef>
                <a:spcPts val="6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다크 블루 테마 (#142238) 기반의 정갈한 네오 브루탈리즘 테크 HUD 스타일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실시간 패킷 광점 이동 경로(파랑: 요청, 보라: 응답, 노랑: DB) 시각화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과부하 큐에 직관적인 빨간색 위험 경고 노출</a:t>
            </a:r>
          </a:p>
        </p:txBody>
      </p:sp>
      <p:sp>
        <p:nvSpPr>
          <p:cNvPr id="12" name="Oval 11"/>
          <p:cNvSpPr/>
          <p:nvPr/>
        </p:nvSpPr>
        <p:spPr>
          <a:xfrm>
            <a:off x="6704415" y="3874244"/>
            <a:ext cx="252065" cy="252065"/>
          </a:xfrm>
          <a:prstGeom prst="ellipse">
            <a:avLst/>
          </a:prstGeom>
          <a:solidFill>
            <a:srgbClr val="142238"/>
          </a:solidFill>
          <a:ln>
            <a:solidFill>
              <a:srgbClr val="14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050479" y="3874244"/>
            <a:ext cx="252065" cy="252065"/>
          </a:xfrm>
          <a:prstGeom prst="ellipse">
            <a:avLst/>
          </a:prstGeom>
          <a:solidFill>
            <a:srgbClr val="88B8EF"/>
          </a:solidFill>
          <a:ln>
            <a:solidFill>
              <a:srgbClr val="88B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396543" y="3874244"/>
            <a:ext cx="252065" cy="252065"/>
          </a:xfrm>
          <a:prstGeom prst="ellipse">
            <a:avLst/>
          </a:prstGeom>
          <a:solidFill>
            <a:srgbClr val="B4A1E5"/>
          </a:solidFill>
          <a:ln>
            <a:solidFill>
              <a:srgbClr val="B4A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742607" y="3874244"/>
            <a:ext cx="252065" cy="252065"/>
          </a:xfrm>
          <a:prstGeom prst="ellipse">
            <a:avLst/>
          </a:prstGeom>
          <a:solidFill>
            <a:srgbClr val="F6D477"/>
          </a:solidFill>
          <a:ln>
            <a:solidFill>
              <a:srgbClr val="F6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088671" y="3874244"/>
            <a:ext cx="252065" cy="252065"/>
          </a:xfrm>
          <a:prstGeom prst="ellipse">
            <a:avLst/>
          </a:prstGeom>
          <a:solidFill>
            <a:srgbClr val="7DD9BE"/>
          </a:solidFill>
          <a:ln>
            <a:solidFill>
              <a:srgbClr val="7D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434735" y="3874244"/>
            <a:ext cx="252065" cy="252065"/>
          </a:xfrm>
          <a:prstGeom prst="ellipse">
            <a:avLst/>
          </a:prstGeom>
          <a:solidFill>
            <a:srgbClr val="F29AAC"/>
          </a:solidFill>
          <a:ln>
            <a:solidFill>
              <a:srgbClr val="F29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B017037-4273-86EE-A59F-A69E5E206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7335"/>
            <a:ext cx="5670228" cy="31911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4646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S!!  Serving!!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161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B4A1E5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DESIGN SUMMARY</a:t>
            </a:r>
          </a:p>
          <a:p>
            <a:pPr algn="ctr">
              <a:spcAft>
                <a:spcPts val="1200"/>
              </a:spcAft>
              <a:defRPr sz="4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</a:t>
            </a:r>
          </a:p>
          <a:p>
            <a:pPr algn="ctr">
              <a:spcAft>
                <a:spcPts val="2000"/>
              </a:spcAft>
              <a:defRPr sz="13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보이지 않던 서버 인프라 설계 지식을</a:t>
            </a:r>
            <a:b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직관적인 배치, 배선, 병목 대응 플레이 행동으로 이해하는 게임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725</Words>
  <Application>Microsoft Office PowerPoint</Application>
  <PresentationFormat>화면 슬라이드 쇼(16:9)</PresentationFormat>
  <Paragraphs>104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Pretendard Variable Black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김건</cp:lastModifiedBy>
  <cp:revision>2</cp:revision>
  <dcterms:created xsi:type="dcterms:W3CDTF">2013-01-27T09:14:16Z</dcterms:created>
  <dcterms:modified xsi:type="dcterms:W3CDTF">2026-06-21T23:53:09Z</dcterms:modified>
  <cp:category/>
</cp:coreProperties>
</file>