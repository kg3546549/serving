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88B8EF"/>
                </a:solidFill>
                <a:latin typeface="Malgun Gothic"/>
              </a:defRPr>
            </a:pPr>
            <a:r>
              <a:t>STACK//BREACH</a:t>
            </a:r>
          </a:p>
          <a:p>
            <a:pPr algn="ctr">
              <a:defRPr sz="2200">
                <a:solidFill>
                  <a:srgbClr val="FFFFFF"/>
                </a:solidFill>
                <a:latin typeface="Malgun Gothic"/>
              </a:defRPr>
            </a:pPr>
            <a:r>
              <a:t>서버 인프라 아키텍처 디펜스 게임 기획서</a:t>
            </a:r>
          </a:p>
          <a:p>
            <a:br/>
            <a:pPr algn="ctr">
              <a:defRPr sz="1400">
                <a:solidFill>
                  <a:srgbClr val="C8C8C8"/>
                </a:solidFill>
                <a:latin typeface="Malgun Gothic"/>
              </a:defRPr>
            </a:pPr>
            <a:r>
              <a:t>기말고사 프로젝트 제출 자료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88B8EF"/>
                </a:solidFill>
                <a:latin typeface="Malgun Gothic"/>
              </a:defRPr>
            </a:pPr>
            <a:r>
              <a:t>1. 게임 소개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>
                <a:solidFill>
                  <a:srgbClr val="88B8EF"/>
                </a:solidFill>
                <a:latin typeface="Malgun Gothic"/>
              </a:defRPr>
            </a:pPr>
            <a:r>
              <a:t>■  게임 장르</a:t>
            </a:r>
          </a:p>
          <a:p>
            <a:pPr>
              <a:defRPr sz="1300">
                <a:solidFill>
                  <a:srgbClr val="FFFFFF"/>
                </a:solidFill>
                <a:latin typeface="Malgun Gothic"/>
              </a:defRPr>
            </a:pPr>
            <a:r>
              <a:t>    - 서버 인프라 아키텍처 디펜스 / 퍼즐 시뮬레이터 (PC Web)</a:t>
            </a:r>
            <a:br/>
          </a:p>
          <a:p>
            <a:pPr>
              <a:defRPr sz="1800" b="1">
                <a:solidFill>
                  <a:srgbClr val="88B8EF"/>
                </a:solidFill>
                <a:latin typeface="Malgun Gothic"/>
              </a:defRPr>
            </a:pPr>
            <a:r>
              <a:t>■  타깃 유저</a:t>
            </a:r>
          </a:p>
          <a:p>
            <a:pPr>
              <a:defRPr sz="1300">
                <a:solidFill>
                  <a:srgbClr val="FFFFFF"/>
                </a:solidFill>
                <a:latin typeface="Malgun Gothic"/>
              </a:defRPr>
            </a:pPr>
            <a:r>
              <a:t>    - 소프트웨어 공학 및 네트워크 학습 중인 학생, 백엔드 개발 지망생</a:t>
            </a:r>
            <a:br/>
          </a:p>
          <a:p>
            <a:pPr>
              <a:defRPr sz="1800" b="1">
                <a:solidFill>
                  <a:srgbClr val="88B8EF"/>
                </a:solidFill>
                <a:latin typeface="Malgun Gothic"/>
              </a:defRPr>
            </a:pPr>
            <a:r>
              <a:t>■  핵심 재미</a:t>
            </a:r>
          </a:p>
          <a:p>
            <a:pPr>
              <a:defRPr sz="1300">
                <a:solidFill>
                  <a:srgbClr val="FFFFFF"/>
                </a:solidFill>
                <a:latin typeface="Malgun Gothic"/>
              </a:defRPr>
            </a:pPr>
            <a:r>
              <a:t>    - 실시간 서버/DB 병목 해결의 쾌감, 제한된 예산 안에서 최적 아키텍처 설계</a:t>
            </a:r>
            <a:br/>
          </a:p>
          <a:p>
            <a:pPr>
              <a:defRPr sz="1800" b="1">
                <a:solidFill>
                  <a:srgbClr val="88B8EF"/>
                </a:solidFill>
                <a:latin typeface="Malgun Gothic"/>
              </a:defRPr>
            </a:pPr>
            <a:r>
              <a:t>■  참고 게임</a:t>
            </a:r>
          </a:p>
          <a:p>
            <a:pPr>
              <a:defRPr sz="1300">
                <a:solidFill>
                  <a:srgbClr val="FFFFFF"/>
                </a:solidFill>
                <a:latin typeface="Malgun Gothic"/>
              </a:defRPr>
            </a:pPr>
            <a:r>
              <a:t>    - Turing Complete (아키텍처 구성 퍼즐) + TFT/오토배틀러 (상점 및 합성)</a:t>
            </a:r>
            <a:b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88B8EF"/>
                </a:solidFill>
                <a:latin typeface="Malgun Gothic"/>
              </a:defRPr>
            </a:pPr>
            <a:r>
              <a:t>2. 코어 루프 (Core Loop)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>
                <a:solidFill>
                  <a:srgbClr val="88B8EF"/>
                </a:solidFill>
                <a:latin typeface="Malgun Gothic"/>
              </a:defRPr>
            </a:pPr>
            <a:r>
              <a:t>●  1단계: 장비 구매 및 배치</a:t>
            </a:r>
          </a:p>
          <a:p>
            <a:pPr>
              <a:defRPr sz="1300">
                <a:solidFill>
                  <a:srgbClr val="FFFFFF"/>
                </a:solidFill>
                <a:latin typeface="Malgun Gothic"/>
              </a:defRPr>
            </a:pPr>
            <a:r>
              <a:t>    상점에서 인프라 장비(EC2, RDS 등)를 구매하고 보드에 기기를 가설/이동</a:t>
            </a:r>
            <a:br/>
          </a:p>
          <a:p>
            <a:pPr>
              <a:defRPr sz="1800" b="1">
                <a:solidFill>
                  <a:srgbClr val="88B8EF"/>
                </a:solidFill>
                <a:latin typeface="Malgun Gothic"/>
              </a:defRPr>
            </a:pPr>
            <a:r>
              <a:t>●  2단계: 링크 연결 및 서비스 개시</a:t>
            </a:r>
          </a:p>
          <a:p>
            <a:pPr>
              <a:defRPr sz="1300">
                <a:solidFill>
                  <a:srgbClr val="FFFFFF"/>
                </a:solidFill>
                <a:latin typeface="Malgun Gothic"/>
              </a:defRPr>
            </a:pPr>
            <a:r>
              <a:t>    장비 성격에 맞는 링크(트래픽/데이터) 연결 및 서비스 가동, 실시간 트래픽 유입</a:t>
            </a:r>
            <a:br/>
          </a:p>
          <a:p>
            <a:pPr>
              <a:defRPr sz="1800" b="1">
                <a:solidFill>
                  <a:srgbClr val="88B8EF"/>
                </a:solidFill>
                <a:latin typeface="Malgun Gothic"/>
              </a:defRPr>
            </a:pPr>
            <a:r>
              <a:t>●  3단계: 결과 획득 및 성장</a:t>
            </a:r>
          </a:p>
          <a:p>
            <a:pPr>
              <a:defRPr sz="1300">
                <a:solidFill>
                  <a:srgbClr val="FFFFFF"/>
                </a:solidFill>
                <a:latin typeface="Malgun Gothic"/>
              </a:defRPr>
            </a:pPr>
            <a:r>
              <a:t>    패킷 정상 처리 시 Credits 및 XP 획득, 플레이어 레벨업에 따른 보드/링크 용량 확장</a:t>
            </a:r>
            <a:br/>
          </a:p>
          <a:p>
            <a:pPr>
              <a:defRPr sz="1800" b="1">
                <a:solidFill>
                  <a:srgbClr val="88B8EF"/>
                </a:solidFill>
                <a:latin typeface="Malgun Gothic"/>
              </a:defRPr>
            </a:pPr>
            <a:r>
              <a:t>●  4단계: 반복 도전 및 리팩토링</a:t>
            </a:r>
          </a:p>
          <a:p>
            <a:pPr>
              <a:defRPr sz="1300">
                <a:solidFill>
                  <a:srgbClr val="FFFFFF"/>
                </a:solidFill>
                <a:latin typeface="Malgun Gothic"/>
              </a:defRPr>
            </a:pPr>
            <a:r>
              <a:t>    합성(2성/3성) 및 역할 증강을 활용하여 더 강력한 웨이브의 병목 패턴 방어</a:t>
            </a:r>
            <a:b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88B8EF"/>
                </a:solidFill>
                <a:latin typeface="Malgun Gothic"/>
              </a:defRPr>
            </a:pPr>
            <a:r>
              <a:t>3. 세계관 및 배경 설정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>
                <a:solidFill>
                  <a:srgbClr val="88B8EF"/>
                </a:solidFill>
                <a:latin typeface="Malgun Gothic"/>
              </a:defRPr>
            </a:pPr>
            <a:r>
              <a:t>▶  배경 및 콘셉트</a:t>
            </a:r>
          </a:p>
          <a:p>
            <a:pPr>
              <a:defRPr sz="1300">
                <a:solidFill>
                  <a:srgbClr val="FFFFFF"/>
                </a:solidFill>
                <a:latin typeface="Malgun Gothic"/>
              </a:defRPr>
            </a:pPr>
            <a:r>
              <a:t>    인프라 아키텍트가 되어 IT 기업의 실시간 백엔드 시스템 부하를 관리하는 모니터링 가상현실</a:t>
            </a:r>
            <a:br/>
          </a:p>
          <a:p>
            <a:pPr>
              <a:defRPr sz="1800" b="1">
                <a:solidFill>
                  <a:srgbClr val="88B8EF"/>
                </a:solidFill>
                <a:latin typeface="Malgun Gothic"/>
              </a:defRPr>
            </a:pPr>
            <a:r>
              <a:t>▶  게임 톤앤무드</a:t>
            </a:r>
          </a:p>
          <a:p>
            <a:pPr>
              <a:defRPr sz="1300">
                <a:solidFill>
                  <a:srgbClr val="FFFFFF"/>
                </a:solidFill>
                <a:latin typeface="Malgun Gothic"/>
              </a:defRPr>
            </a:pPr>
            <a:r>
              <a:t>    짙은 프레임과 다크 블루 기반 테크니컬 디자인 + 입체적 글로우/파티클 패킷 연출로 지적 긴장감 조성</a:t>
            </a:r>
            <a:br/>
          </a:p>
          <a:p>
            <a:pPr>
              <a:defRPr sz="1800" b="1">
                <a:solidFill>
                  <a:srgbClr val="88B8EF"/>
                </a:solidFill>
                <a:latin typeface="Malgun Gothic"/>
              </a:defRPr>
            </a:pPr>
            <a:r>
              <a:t>▶  플레이어 목표</a:t>
            </a:r>
          </a:p>
          <a:p>
            <a:pPr>
              <a:defRPr sz="1300">
                <a:solidFill>
                  <a:srgbClr val="FFFFFF"/>
                </a:solidFill>
                <a:latin typeface="Malgun Gothic"/>
              </a:defRPr>
            </a:pPr>
            <a:r>
              <a:t>    10개 웨이브 동안 실패 요청 비율을 억제하여 Service HP가 0이 되지 않도록 유지하며 최종 부하 테스트 통과</a:t>
            </a:r>
            <a:br/>
          </a:p>
          <a:p>
            <a:pPr>
              <a:defRPr sz="1800" b="1">
                <a:solidFill>
                  <a:srgbClr val="88B8EF"/>
                </a:solidFill>
                <a:latin typeface="Malgun Gothic"/>
              </a:defRPr>
            </a:pPr>
            <a:r>
              <a:t>▶  시나리오 상황</a:t>
            </a:r>
          </a:p>
          <a:p>
            <a:pPr>
              <a:defRPr sz="1300">
                <a:solidFill>
                  <a:srgbClr val="FFFFFF"/>
                </a:solidFill>
                <a:latin typeface="Malgun Gothic"/>
              </a:defRPr>
            </a:pPr>
            <a:r>
              <a:t>    신규 서비스 오픈 직후 기하급수적으로 폭발하는 유저 트래픽 급증을 최소 예산으로 극복하는 실시간 서버 관리</a:t>
            </a:r>
            <a:b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88B8EF"/>
                </a:solidFill>
                <a:latin typeface="Malgun Gothic"/>
              </a:defRPr>
            </a:pPr>
            <a:r>
              <a:t>4. 캐릭터 소개 (트래픽 및 장비)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600" b="1">
                <a:solidFill>
                  <a:srgbClr val="88B8EF"/>
                </a:solidFill>
                <a:latin typeface="Malgun Gothic"/>
              </a:defRPr>
            </a:pPr>
            <a:r>
              <a:t>👤  GET / POST 트래픽</a:t>
            </a:r>
          </a:p>
          <a:p>
            <a:pPr>
              <a:defRPr sz="1200">
                <a:solidFill>
                  <a:srgbClr val="FFFFFF"/>
                </a:solidFill>
                <a:latin typeface="Malgun Gothic"/>
              </a:defRPr>
            </a:pPr>
            <a:r>
              <a:t>    GET: DB 읽기 위주 병목 유발 / POST: DB 쓰기 위주 병목(Primary DB 성능 영향)</a:t>
            </a:r>
            <a:br/>
          </a:p>
          <a:p>
            <a:pPr>
              <a:defRPr sz="1600" b="1">
                <a:solidFill>
                  <a:srgbClr val="88B8EF"/>
                </a:solidFill>
                <a:latin typeface="Malgun Gothic"/>
              </a:defRPr>
            </a:pPr>
            <a:r>
              <a:t>👤  SLOW / Burst 트래픽</a:t>
            </a:r>
          </a:p>
          <a:p>
            <a:pPr>
              <a:defRPr sz="1200">
                <a:solidFill>
                  <a:srgbClr val="FFFFFF"/>
                </a:solidFill>
                <a:latin typeface="Malgun Gothic"/>
              </a:defRPr>
            </a:pPr>
            <a:r>
              <a:t>    SLOW: 인덱스 부재 장시간 쿼리로 DB 큐 마비 / Burst: 단시간 대량 몰려와 서버 큐 폭발 유도</a:t>
            </a:r>
            <a:br/>
          </a:p>
          <a:p>
            <a:pPr>
              <a:defRPr sz="1600" b="1">
                <a:solidFill>
                  <a:srgbClr val="88B8EF"/>
                </a:solidFill>
                <a:latin typeface="Malgun Gothic"/>
              </a:defRPr>
            </a:pPr>
            <a:r>
              <a:t>👤  아키텍트 (주인공)</a:t>
            </a:r>
          </a:p>
          <a:p>
            <a:pPr>
              <a:defRPr sz="1200">
                <a:solidFill>
                  <a:srgbClr val="FFFFFF"/>
                </a:solidFill>
                <a:latin typeface="Malgun Gothic"/>
              </a:defRPr>
            </a:pPr>
            <a:r>
              <a:t>    플레이어가 담당하며, 장비 포트 규칙(Ingress-Server-DB-Server-Egress)에 의거해 아키텍처 빌딩</a:t>
            </a:r>
            <a:br/>
          </a:p>
          <a:p>
            <a:pPr>
              <a:defRPr sz="1600" b="1">
                <a:solidFill>
                  <a:srgbClr val="88B8EF"/>
                </a:solidFill>
                <a:latin typeface="Malgun Gothic"/>
              </a:defRPr>
            </a:pPr>
            <a:r>
              <a:t>👤  최종 보스 (Wave 10)</a:t>
            </a:r>
          </a:p>
          <a:p>
            <a:pPr>
              <a:defRPr sz="1200">
                <a:solidFill>
                  <a:srgbClr val="FFFFFF"/>
                </a:solidFill>
                <a:latin typeface="Malgun Gothic"/>
              </a:defRPr>
            </a:pPr>
            <a:r>
              <a:t>    GET, POST, SLOW, Burst가 복합적으로 몰려와 극한의 자원 최적화 한계를 시험하는 최종 부하 테스트</a:t>
            </a:r>
            <a:b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88B8EF"/>
                </a:solidFill>
                <a:latin typeface="Malgun Gothic"/>
              </a:defRPr>
            </a:pPr>
            <a:r>
              <a:t>5. 비주얼 컨셉 및 디자인 방향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600" b="1">
                <a:solidFill>
                  <a:srgbClr val="88B8EF"/>
                </a:solidFill>
                <a:latin typeface="Malgun Gothic"/>
              </a:defRPr>
            </a:pPr>
            <a:r>
              <a:t>🎨  인터페이스 스타일</a:t>
            </a:r>
          </a:p>
          <a:p>
            <a:pPr>
              <a:defRPr sz="1200">
                <a:solidFill>
                  <a:srgbClr val="FFFFFF"/>
                </a:solidFill>
                <a:latin typeface="Malgun Gothic"/>
              </a:defRPr>
            </a:pPr>
            <a:r>
              <a:t>    Azure Portal 같은 딱딱한 웹보단 게임 HUD에 맞추어 짙은 프레임과 짧은 상태 표시 차용</a:t>
            </a:r>
            <a:br/>
          </a:p>
          <a:p>
            <a:pPr>
              <a:defRPr sz="1600" b="1">
                <a:solidFill>
                  <a:srgbClr val="88B8EF"/>
                </a:solidFill>
                <a:latin typeface="Malgun Gothic"/>
              </a:defRPr>
            </a:pPr>
            <a:r>
              <a:t>🎨  색상 가이드라인</a:t>
            </a:r>
          </a:p>
          <a:p>
            <a:pPr>
              <a:defRPr sz="1200">
                <a:solidFill>
                  <a:srgbClr val="FFFFFF"/>
                </a:solidFill>
                <a:latin typeface="Malgun Gothic"/>
              </a:defRPr>
            </a:pPr>
            <a:r>
              <a:t>    배경: #142238 (다크 블루) / 요청선: #88B8EF (파랑) / 응답선: #B4A1E5 (보라) / DB선: #F6D477 (노랑)</a:t>
            </a:r>
            <a:br/>
          </a:p>
          <a:p>
            <a:pPr>
              <a:defRPr sz="1600" b="1">
                <a:solidFill>
                  <a:srgbClr val="88B8EF"/>
                </a:solidFill>
                <a:latin typeface="Malgun Gothic"/>
              </a:defRPr>
            </a:pPr>
            <a:r>
              <a:t>🎨  Phaser VFX 연출</a:t>
            </a:r>
          </a:p>
          <a:p>
            <a:pPr>
              <a:defRPr sz="1200">
                <a:solidFill>
                  <a:srgbClr val="FFFFFF"/>
                </a:solidFill>
                <a:latin typeface="Malgun Gothic"/>
              </a:defRPr>
            </a:pPr>
            <a:r>
              <a:t>    장비 선택 시 펄스 효과, 배치 시 파티클 팝, 패킷 이동 시 Glow 및 Trail 입자 시각적 극대화</a:t>
            </a:r>
            <a:br/>
          </a:p>
          <a:p>
            <a:pPr>
              <a:defRPr sz="1600" b="1">
                <a:solidFill>
                  <a:srgbClr val="88B8EF"/>
                </a:solidFill>
                <a:latin typeface="Malgun Gothic"/>
              </a:defRPr>
            </a:pPr>
            <a:r>
              <a:t>🎨  컴포넌트 뷰</a:t>
            </a:r>
          </a:p>
          <a:p>
            <a:pPr>
              <a:defRPr sz="1200">
                <a:solidFill>
                  <a:srgbClr val="FFFFFF"/>
                </a:solidFill>
                <a:latin typeface="Malgun Gothic"/>
              </a:defRPr>
            </a:pPr>
            <a:r>
              <a:t>    텍스트 설명 대신 SVG 플랫 카드 아이콘을 주로 렌더링하고, 우클릭 시 세부 툴팁으로 정보 제공</a:t>
            </a:r>
            <a:b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